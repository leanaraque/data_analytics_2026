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vtgpzffiEzk79MlvM+f8DLKeq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3C95CE-991C-48A1-BB2A-462195839A16}">
  <a:tblStyle styleId="{1C3C95CE-991C-48A1-BB2A-462195839A1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498080" y="2743200"/>
            <a:ext cx="3200400" cy="3200400"/>
          </a:xfrm>
          <a:prstGeom prst="ellipse">
            <a:avLst/>
          </a:prstGeom>
          <a:solidFill>
            <a:srgbClr val="1C729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31520" y="109728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96167"/>
                </a:solidFill>
                <a:latin typeface="Georgia"/>
                <a:ea typeface="Georgia"/>
                <a:cs typeface="Georgia"/>
                <a:sym typeface="Georgia"/>
              </a:rPr>
              <a:t>PROYECTO FINAL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1737360"/>
            <a:ext cx="6400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Análisis de Datos de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Ventas Retail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32918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Curso Data Analytics — Coderhouse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31520" y="3931920"/>
            <a:ext cx="137160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Alumno: Alfredo Parente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31520" y="44805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Abril 2025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Contenido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731520" y="1234440"/>
            <a:ext cx="502920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731520" y="123444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417320" y="123444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Contexto del Problema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663440" y="12344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Objetivo y alcance del análisis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31520" y="1691640"/>
            <a:ext cx="502920" cy="34747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731520" y="169164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417320" y="169164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Descripción del Dataset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663440" y="16916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Origen, estructura y variables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31520" y="2148840"/>
            <a:ext cx="502920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731520" y="214884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417320" y="214884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Preguntas Teóricas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63440" y="21488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SQL, JOINs, IA y Storytelling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31520" y="2606040"/>
            <a:ext cx="502920" cy="34747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31520" y="260604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417320" y="260604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663440" y="26060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Exploración y visualización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31520" y="3063240"/>
            <a:ext cx="502920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731520" y="306324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417320" y="306324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Preprocesamiento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663440" y="30632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Limpieza y transformación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31520" y="3520440"/>
            <a:ext cx="502920" cy="34747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731520" y="352044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417320" y="352044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Modelado (SQL + ER)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663440" y="35204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Consultas y diagrama entidad-relación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31520" y="3977640"/>
            <a:ext cx="502920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731520" y="397764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417320" y="397764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Visualización y Storytelling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663440" y="39776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Narrativa para marketing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31520" y="4434840"/>
            <a:ext cx="502920" cy="34747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731520" y="4434840"/>
            <a:ext cx="502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417320" y="443484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663440" y="443484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Insights y recomendaciones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Contexto del Problema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Objetivo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31520" y="1508760"/>
            <a:ext cx="3840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Analizar datos de ventas de una empresa de retail online para identificar patrones de compra, clientes clave y tendencias temporales que permitan al equipo de marketing tomar decisiones basadas en datos.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31520" y="28346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Preguntas de Negocio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31520" y="3246120"/>
            <a:ext cx="3840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¿Cuáles son los clientes más valiosos?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¿Cómo evolucionan las ventas mes a mes?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¿Qué categorías generan mayor ingreso?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¿Qué patrones tienen las ventas recientes (30 días)?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303520" y="1188720"/>
            <a:ext cx="16459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5303520" y="1188720"/>
            <a:ext cx="164592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303520" y="13716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$1.0M+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303520" y="19202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Revenue Total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132320" y="1188720"/>
            <a:ext cx="16459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7132320" y="1188720"/>
            <a:ext cx="164592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7132320" y="13716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1,985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132320" y="192024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Transacciones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303520" y="2834640"/>
            <a:ext cx="16459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5303520" y="2834640"/>
            <a:ext cx="164592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5303520" y="301752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200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303520" y="35661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Clientes Únicos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7132320" y="2834640"/>
            <a:ext cx="16459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7132320" y="2834640"/>
            <a:ext cx="164592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7132320" y="301752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$505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7132320" y="35661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Ticket Promedio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Descripción del Dataset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731520" y="10058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 utilizó un dataset sintético inspirado en el formato del "Online Retail Dataset" de Kaggle, estructurado en 3 tablas normalizadas para simular un escenario empresarial real.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8" name="Google Shape;98;p4"/>
          <p:cNvGraphicFramePr/>
          <p:nvPr/>
        </p:nvGraphicFramePr>
        <p:xfrm>
          <a:off x="73152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{1C3C95CE-991C-48A1-BB2A-462195839A16}</a:tableStyleId>
              </a:tblPr>
              <a:tblGrid>
                <a:gridCol w="1097275"/>
                <a:gridCol w="1005850"/>
                <a:gridCol w="3383275"/>
                <a:gridCol w="22860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Tabla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Columnas Clave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ventas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TransactionID, CustomerID, ProductID, Date, Quantity, UnitPrice, TotalSale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Transacciones de compra con fecha y montos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CustomerID, CustomerName, Country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Datos demográficos de clientes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ProductID, ProductName, Category, UnitPrice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Catálogo con categoría y precio unitario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" name="Google Shape;99;p4"/>
          <p:cNvSpPr/>
          <p:nvPr/>
        </p:nvSpPr>
        <p:spPr>
          <a:xfrm>
            <a:off x="731520" y="36576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Nota: Se introdujeron intencionalmente 15 valores nulos en la columna Quantity para demostrar el proceso de limpieza de datos.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731520" y="1371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Sección Teórica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1. Datos vs. Información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31520" y="118872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005840" y="1828800"/>
            <a:ext cx="3200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Hechos en bruto, sin procesar. Registros individuales sin contexto ni significado por sí solos.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Ejemplo: "1500, 2025-03-15, P003" — sin contexto, no comunica nada.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4754880" y="118872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4754880" y="1371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029200" y="1828800"/>
            <a:ext cx="3200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Datos procesados con contexto que permiten interpretar, comparar y decidir.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Ejemplo: "Las ventas de teclados crecieron un 12% en marzo respecto a febrero."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31520" y="3566160"/>
            <a:ext cx="7680960" cy="10972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1005840" y="3611880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79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9E795"/>
                </a:solidFill>
                <a:latin typeface="Calibri"/>
                <a:ea typeface="Calibri"/>
                <a:cs typeface="Calibri"/>
                <a:sym typeface="Calibri"/>
              </a:rPr>
              <a:t>¿Por qué importa para la toma de decisiones?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005840" y="397764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Las decisiones empresariales requieren información, no datos crudos. Un gerente no necesita ver 2,000 registros de transacciones; necesita saber que las ventas cayeron un 8% y cuál categoría fue la causa. El análisis de datos transforma datos en información accionable.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731520" y="1371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Sección Teórica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2. Sublenguajes de SQL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731520" y="1188720"/>
            <a:ext cx="77724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731520" y="1188720"/>
            <a:ext cx="73152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1005840" y="12344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DDL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920240" y="123444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Definition Language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005840" y="15544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Crear y modificar estructuras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029200" y="12801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1295C"/>
                </a:solidFill>
                <a:latin typeface="Consolas"/>
                <a:ea typeface="Consolas"/>
                <a:cs typeface="Consolas"/>
                <a:sym typeface="Consolas"/>
              </a:rPr>
              <a:t>CREATE, ALTER, DROP, TRUNCATE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731520" y="2057400"/>
            <a:ext cx="7772400" cy="7315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731520" y="2057400"/>
            <a:ext cx="73152" cy="731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1005840" y="210312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DML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920240" y="21031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Manipulation Language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005840" y="24231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Manipular datos en las tablas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029200" y="21488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1295C"/>
                </a:solidFill>
                <a:latin typeface="Consolas"/>
                <a:ea typeface="Consolas"/>
                <a:cs typeface="Consolas"/>
                <a:sym typeface="Consolas"/>
              </a:rPr>
              <a:t>SELECT, INSERT, UPDATE, DELETE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731520" y="2926080"/>
            <a:ext cx="77724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731520" y="2926080"/>
            <a:ext cx="73152" cy="7315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1005840" y="2971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DCL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920240" y="29718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Control Language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005840" y="32918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Gestionar permisos de acceso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029200" y="301752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1295C"/>
                </a:solidFill>
                <a:latin typeface="Consolas"/>
                <a:ea typeface="Consolas"/>
                <a:cs typeface="Consolas"/>
                <a:sym typeface="Consolas"/>
              </a:rPr>
              <a:t>GRANT, REVOKE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731520" y="3794760"/>
            <a:ext cx="7772400" cy="7315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731520" y="3794760"/>
            <a:ext cx="73152" cy="73152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1005840" y="38404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TCL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920240" y="38404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Transaction Control Language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1005840" y="41605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Controlar transacciones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029200" y="388620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1295C"/>
                </a:solidFill>
                <a:latin typeface="Consolas"/>
                <a:ea typeface="Consolas"/>
                <a:cs typeface="Consolas"/>
                <a:sym typeface="Consolas"/>
              </a:rPr>
              <a:t>COMMIT, ROLLBACK, SAVEPOINT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731520" y="1371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Sección Teórica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3. IA y Análisis de Datos Empresarial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31520" y="1188720"/>
            <a:ext cx="374904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731520" y="1188720"/>
            <a:ext cx="73152" cy="1554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1005840" y="13258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Predicción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1005840" y="16916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Modelos de ML para forecasting de ventas, detección de tendencias y anticipación de demanda.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846320" y="1188720"/>
            <a:ext cx="374904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846320" y="1188720"/>
            <a:ext cx="73152" cy="1554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5120640" y="13258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Automatización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120640" y="16916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ETL automatizado, limpieza de datos con NLP, generación automática de reportes y alertas.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31520" y="3017520"/>
            <a:ext cx="374904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731520" y="3017520"/>
            <a:ext cx="73152" cy="15544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1005840" y="31546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Segmentación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005840" y="35204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Clustering de clientes (K-Means, RFM) para campañas de marketing personalizadas y retención.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846320" y="3017520"/>
            <a:ext cx="374904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846320" y="3017520"/>
            <a:ext cx="73152" cy="155448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5120640" y="31546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NLP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120640" y="35204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Análisis de sentimiento en reviews, chatbots de soporte, extracción de insights de texto libre.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731520" y="1371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Sección Teórica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4. Tipos de JOIN y el Impacto de NULL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31520" y="1097280"/>
            <a:ext cx="77724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731520" y="1097280"/>
            <a:ext cx="73152" cy="5303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1005840" y="1143000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INNER JOIN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3108960" y="1143000"/>
            <a:ext cx="5120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Solo registros con coincidencia en ambas tablas.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731520" y="1737360"/>
            <a:ext cx="7772400" cy="530352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731520" y="1737360"/>
            <a:ext cx="73152" cy="5303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1005840" y="1783080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LEFT JOIN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3108960" y="1783080"/>
            <a:ext cx="5120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Todos los registros de la tabla izquierda + coincidencias de la derecha (NULL si no hay match).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731520" y="2377440"/>
            <a:ext cx="77724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731520" y="2377440"/>
            <a:ext cx="73152" cy="53035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1005840" y="2423160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96167"/>
                </a:solidFill>
                <a:latin typeface="Consolas"/>
                <a:ea typeface="Consolas"/>
                <a:cs typeface="Consolas"/>
                <a:sym typeface="Consolas"/>
              </a:rPr>
              <a:t>RIGHT JOIN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108960" y="2423160"/>
            <a:ext cx="5120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Todos los registros de la tabla derecha + coincidencias de la izquierda.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731520" y="3017520"/>
            <a:ext cx="7772400" cy="530352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731520" y="3017520"/>
            <a:ext cx="73152" cy="530352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1005840" y="3063240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onsolas"/>
                <a:ea typeface="Consolas"/>
                <a:cs typeface="Consolas"/>
                <a:sym typeface="Consolas"/>
              </a:rPr>
              <a:t>FULL OUTER JOIN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108960" y="3063240"/>
            <a:ext cx="5120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Todos los registros de ambas tablas, con NULL donde no hay coincidencia.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731520" y="3794760"/>
            <a:ext cx="7772400" cy="10058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1005840" y="384048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79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9E795"/>
                </a:solidFill>
                <a:latin typeface="Calibri"/>
                <a:ea typeface="Calibri"/>
                <a:cs typeface="Calibri"/>
                <a:sym typeface="Calibri"/>
              </a:rPr>
              <a:t>Impacto de NULL en JOINs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1005840" y="4160520"/>
            <a:ext cx="7132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Los valores NULL nunca coinciden en una comparación (NULL ≠ NULL). Esto significa que filas con NULL en la columna de JOIN no participan del INNER JOIN y generan resultados inesperados. Se recomienda usar COALESCE() o IS NULL para manejarlos.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731520" y="1371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Sección Teórica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5. Storytelling con Datos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731520" y="1216152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731520" y="121615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1371600" y="11430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1371600" y="146304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Dar marco al análisis: ¿qué problema resolvemos y por qué importa ahora?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731520" y="1947672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731520" y="194767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1371600" y="187452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Conflicto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1371600" y="219456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Presentar el hallazgo o tensión: ventas bajaron, clientes se fueron, un segmento creció.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731520" y="2679192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731520" y="267919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1371600" y="2606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Resolución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1371600" y="292608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Proponer acciones concretas basadas en la evidencia de los datos.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731520" y="3410712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731520" y="341071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1371600" y="33375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Simplicidad Visual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1371600" y="365760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 gráfico, un mensaje. Evitar saturar de información. Menos es más.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731520" y="4142232"/>
            <a:ext cx="411480" cy="4114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731520" y="414223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1371600" y="406908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Audiencia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1371600" y="438912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Adaptar el lenguaje y nivel de detalle al público (técnico vs. ejecutivo vs. marketing).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731520" y="1371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Ventas Mensuales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ventas_mensuales.png" id="238" name="Google Shape;2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5943600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0"/>
          <p:cNvSpPr/>
          <p:nvPr/>
        </p:nvSpPr>
        <p:spPr>
          <a:xfrm>
            <a:off x="6675120" y="1097280"/>
            <a:ext cx="2103120" cy="2971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6675120" y="1097280"/>
            <a:ext cx="210312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6675120" y="123444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6858000" y="1645920"/>
            <a:ext cx="17373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Las ventas muestran un comportamiento relativamente estable con variaciones mensuales moderadas.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El último mes (en rojo) permite comparar el rendimiento actual vs. histórico.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Revenue total: $1.0M+ en los últimos 12 meses.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457200" y="42976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Captura generada desde Google Colab con matplotlib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731520" y="1371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Clientes y Categorías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top10_clientes.png" id="252" name="Google Shape;2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97280"/>
            <a:ext cx="4572000" cy="283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charts/ventas_categoria.png" id="253" name="Google Shape;25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097280"/>
            <a:ext cx="384048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1"/>
          <p:cNvSpPr/>
          <p:nvPr/>
        </p:nvSpPr>
        <p:spPr>
          <a:xfrm>
            <a:off x="731520" y="41148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Tecnología domina las ventas por el alto precio unitario de laptops y monitores. Los top 10 clientes representan un segmento clave para estrategias de fidelización.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731520" y="1371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Distribución y Correlaciones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distribucion_montos.png" id="263" name="Google Shape;26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97280"/>
            <a:ext cx="4754880" cy="2651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charts/correlacion.png" id="264" name="Google Shape;26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2080" y="1097280"/>
            <a:ext cx="347472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2"/>
          <p:cNvSpPr/>
          <p:nvPr/>
        </p:nvSpPr>
        <p:spPr>
          <a:xfrm>
            <a:off x="731520" y="402336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 distribución de montos muestra una fuerte asimetría positiva (right-skewed), con la mayoría de transacciones entre $25-$375 y una cola larga generada por productos de alto valor. La mediana ($150) es más representativa que la media ($505).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Preprocesamiento de Datos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731520" y="1097280"/>
            <a:ext cx="384048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868680" y="11430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7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E795"/>
                </a:solidFill>
                <a:latin typeface="Calibri"/>
                <a:ea typeface="Calibri"/>
                <a:cs typeface="Calibri"/>
                <a:sym typeface="Calibri"/>
              </a:rPr>
              <a:t># Limpieza de datos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868680" y="1417320"/>
            <a:ext cx="35661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import pandas as pd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# Cargar dataset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ventas = pd.read_csv('ventas_raw.csv')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# Identificar nulos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print(ventas.isnull().sum())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# Quantity: 15 valores nulos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# Eliminar filas con nulos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ventas_clean = ventas.dropna(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subset=['Quantity']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# De 2000 → 1985 registros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4846320" y="1097280"/>
            <a:ext cx="384048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4983480" y="11430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7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E795"/>
                </a:solidFill>
                <a:latin typeface="Calibri"/>
                <a:ea typeface="Calibri"/>
                <a:cs typeface="Calibri"/>
                <a:sym typeface="Calibri"/>
              </a:rPr>
              <a:t># Formateo de columnas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4983480" y="1417320"/>
            <a:ext cx="356616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# Convertir fecha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ventas_clean['Date'] = pd.to_datetime(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ventas_clean['Date']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# Recalcular total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ventas_clean['TotalSale'] = 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ventas_clean['Quantity']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* ventas_clean['UnitPrice']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# Crear columna de período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ventas_clean['Month'] = 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ventas_clean['Date'].dt.to_period('M')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731520" y="3337560"/>
            <a:ext cx="795528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1005840" y="34290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Resumen del preprocesamiento: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1005840" y="374904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Eliminación de 15 filas con valores nulos en Quantity (0.75% del dataset)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Conversión de columna Date a formato datetime para filtros temporales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Recalculo de TotalSale tras limpieza para asegurar consistencia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Verificación de tipos de datos y ausencia de duplicados en TransactionID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Modelado — Ejercicio SQL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731520" y="1005840"/>
            <a:ext cx="50292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>
            <a:off x="868680" y="105156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79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E795"/>
                </a:solidFill>
                <a:latin typeface="Calibri"/>
                <a:ea typeface="Calibri"/>
                <a:cs typeface="Calibri"/>
                <a:sym typeface="Calibri"/>
              </a:rPr>
              <a:t>-- Consulta: Ventas últimos 30 días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868680" y="1325880"/>
            <a:ext cx="475488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c.CustomerName      AS nombre_cliente,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v.Date              AS fecha_compra,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v.TotalSale         AS total_venta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FROM ventas 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INNER JOIN clientes 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ON v.CustomerID = c.CustomerID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WHERE v.Date &gt;= DATEADD(DAY, -30,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GETDATE())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ORDER BY v.Date DESC;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6035040" y="1005840"/>
            <a:ext cx="2743200" cy="2560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6035040" y="1005840"/>
            <a:ext cx="27432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"/>
          <p:cNvSpPr/>
          <p:nvPr/>
        </p:nvSpPr>
        <p:spPr>
          <a:xfrm>
            <a:off x="6035040" y="11430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Explicación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6217920" y="1508760"/>
            <a:ext cx="23774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Tablas: ventas (transacciones con fecha y monto) y clientes (nombre del cliente).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INNER JOIN por CustomerID para obtener el nombre.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WHERE filtra últimos 30 días con DATEADD.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ORDER BY fecha descendente para ver las más recientes primero.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Resultado: 167 transacciones en los últimos 30 días.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731520" y="3749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Vista previa del resultado: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7" name="Google Shape;297;p14"/>
          <p:cNvGraphicFramePr/>
          <p:nvPr/>
        </p:nvGraphicFramePr>
        <p:xfrm>
          <a:off x="731520" y="4023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{1C3C95CE-991C-48A1-BB2A-462195839A16}</a:tableStyleId>
              </a:tblPr>
              <a:tblGrid>
                <a:gridCol w="2743200"/>
                <a:gridCol w="2743200"/>
                <a:gridCol w="22860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nombre_cliente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fecha_compra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total_venta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Cliente_042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2025-04-07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$1,200.00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Cliente_118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2025-04-06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$75.00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7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Cliente_005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2025-04-05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$450.00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D5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Modelado — Diagrama 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5"/>
          <p:cNvSpPr/>
          <p:nvPr/>
        </p:nvSpPr>
        <p:spPr>
          <a:xfrm>
            <a:off x="731520" y="1097280"/>
            <a:ext cx="22860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"/>
          <p:cNvSpPr/>
          <p:nvPr/>
        </p:nvSpPr>
        <p:spPr>
          <a:xfrm>
            <a:off x="731520" y="1097280"/>
            <a:ext cx="228600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"/>
          <p:cNvSpPr/>
          <p:nvPr/>
        </p:nvSpPr>
        <p:spPr>
          <a:xfrm>
            <a:off x="731520" y="109728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868680" y="15544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PK  CustomerID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5"/>
          <p:cNvSpPr/>
          <p:nvPr/>
        </p:nvSpPr>
        <p:spPr>
          <a:xfrm>
            <a:off x="868680" y="18288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CustomerName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5"/>
          <p:cNvSpPr/>
          <p:nvPr/>
        </p:nvSpPr>
        <p:spPr>
          <a:xfrm>
            <a:off x="868680" y="21031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Country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3474720" y="1097280"/>
            <a:ext cx="2743200" cy="2148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5"/>
          <p:cNvSpPr/>
          <p:nvPr/>
        </p:nvSpPr>
        <p:spPr>
          <a:xfrm>
            <a:off x="3474720" y="1097280"/>
            <a:ext cx="2743200" cy="4114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5"/>
          <p:cNvSpPr/>
          <p:nvPr/>
        </p:nvSpPr>
        <p:spPr>
          <a:xfrm>
            <a:off x="3474720" y="109728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VENTAS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5"/>
          <p:cNvSpPr/>
          <p:nvPr/>
        </p:nvSpPr>
        <p:spPr>
          <a:xfrm>
            <a:off x="3611880" y="15544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PK  TransactionID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3611880" y="18288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FK  CustomerID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3611880" y="21031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FK  ProductID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3611880" y="23774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3611880" y="26517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Quantity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3611880" y="29260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TotalSale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6675120" y="1097280"/>
            <a:ext cx="21031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6675120" y="1097280"/>
            <a:ext cx="210312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5"/>
          <p:cNvSpPr/>
          <p:nvPr/>
        </p:nvSpPr>
        <p:spPr>
          <a:xfrm>
            <a:off x="6675120" y="109728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/>
          <p:nvPr/>
        </p:nvSpPr>
        <p:spPr>
          <a:xfrm>
            <a:off x="6812280" y="15544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PK  ProductID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6812280" y="1828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ProductName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/>
          <p:nvPr/>
        </p:nvSpPr>
        <p:spPr>
          <a:xfrm>
            <a:off x="6812280" y="21031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Category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6812280" y="23774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    UnitPrice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7" name="Google Shape;327;p15"/>
          <p:cNvCxnSpPr/>
          <p:nvPr/>
        </p:nvCxnSpPr>
        <p:spPr>
          <a:xfrm>
            <a:off x="3017520" y="173736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15"/>
          <p:cNvSpPr/>
          <p:nvPr/>
        </p:nvSpPr>
        <p:spPr>
          <a:xfrm>
            <a:off x="3017520" y="1417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1:N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15"/>
          <p:cNvCxnSpPr/>
          <p:nvPr/>
        </p:nvCxnSpPr>
        <p:spPr>
          <a:xfrm>
            <a:off x="6217920" y="173736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2129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15"/>
          <p:cNvSpPr/>
          <p:nvPr/>
        </p:nvSpPr>
        <p:spPr>
          <a:xfrm>
            <a:off x="6217920" y="14173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N:1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731520" y="3474720"/>
            <a:ext cx="777240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"/>
          <p:cNvSpPr/>
          <p:nvPr/>
        </p:nvSpPr>
        <p:spPr>
          <a:xfrm>
            <a:off x="1005840" y="35661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Descripción del modelo relacional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1005840" y="388620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 tabla VENTAS es la tabla de hechos central que referencia a CLIENTES (1:N — un cliente puede tener muchas compras) y a PRODUCTOS (N:1 — cada venta corresponde a un producto). Las claves foráneas CustomerID y ProductID garantizan la integridad referencial. Este diseño en estrella permite consultas eficientes con JOINs y facilita la agregación por cliente, producto o período.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Visualización y Storytelling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Informe mensual de ventas para el equipo de Marketing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731520" y="1280160"/>
            <a:ext cx="77724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6"/>
          <p:cNvSpPr/>
          <p:nvPr/>
        </p:nvSpPr>
        <p:spPr>
          <a:xfrm>
            <a:off x="731520" y="1280160"/>
            <a:ext cx="731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6"/>
          <p:cNvSpPr/>
          <p:nvPr/>
        </p:nvSpPr>
        <p:spPr>
          <a:xfrm>
            <a:off x="1005840" y="13258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1. Apertura: ¿Cómo estamos?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1005840" y="164592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Gráfico de líneas/barras de evolución mensual para contextualizar la tendencia. Título: "Las ventas se mantuvieron estables con $90K en el último mes."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6583680" y="1508760"/>
            <a:ext cx="173736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6583680" y="150876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Gráfico de barras mensual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731520" y="2468880"/>
            <a:ext cx="77724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"/>
          <p:cNvSpPr/>
          <p:nvPr/>
        </p:nvSpPr>
        <p:spPr>
          <a:xfrm>
            <a:off x="731520" y="2468880"/>
            <a:ext cx="73152" cy="1005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1005840" y="25146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2. Desarrollo: ¿Dónde está la oportunidad?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1005840" y="28346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Gráfico de torta para mostrar distribución por categoría + barras horizontales de top clientes. Mensaje: "Tecnología genera el 67% pero Accesorios crece más rápido."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6583680" y="2697480"/>
            <a:ext cx="173736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6583680" y="26974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Pie chart + barras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731520" y="3657600"/>
            <a:ext cx="77724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6"/>
          <p:cNvSpPr/>
          <p:nvPr/>
        </p:nvSpPr>
        <p:spPr>
          <a:xfrm>
            <a:off x="731520" y="3657600"/>
            <a:ext cx="73152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1005840" y="37033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3. Cierre: ¿Qué hacemos?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1005840" y="402336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Dashboard con KPIs + tabla de acciones recomendadas. Mensaje: "Recomendación: campaña de upselling en accesorios para top 10 clientes."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6583680" y="3886200"/>
            <a:ext cx="1737360" cy="4572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6"/>
          <p:cNvSpPr/>
          <p:nvPr/>
        </p:nvSpPr>
        <p:spPr>
          <a:xfrm>
            <a:off x="6583680" y="388620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KPIs + tabla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7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Evaluación del Análisis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harts/ventas_pais.png" id="367" name="Google Shape;3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51560"/>
            <a:ext cx="4572000" cy="2560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7"/>
          <p:cNvSpPr/>
          <p:nvPr/>
        </p:nvSpPr>
        <p:spPr>
          <a:xfrm>
            <a:off x="5303520" y="1051560"/>
            <a:ext cx="33832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"/>
          <p:cNvSpPr/>
          <p:nvPr/>
        </p:nvSpPr>
        <p:spPr>
          <a:xfrm>
            <a:off x="5303520" y="1051560"/>
            <a:ext cx="54864" cy="56692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7"/>
          <p:cNvSpPr/>
          <p:nvPr/>
        </p:nvSpPr>
        <p:spPr>
          <a:xfrm>
            <a:off x="5486400" y="1097280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Georgia"/>
                <a:ea typeface="Georgia"/>
                <a:cs typeface="Georgia"/>
                <a:sym typeface="Georgia"/>
              </a:rPr>
              <a:t>$1,002,625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6858000" y="1097280"/>
            <a:ext cx="1645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Revenue Total Anual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5303520" y="1737360"/>
            <a:ext cx="33832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7"/>
          <p:cNvSpPr/>
          <p:nvPr/>
        </p:nvSpPr>
        <p:spPr>
          <a:xfrm>
            <a:off x="5303520" y="1737360"/>
            <a:ext cx="54864" cy="5669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7"/>
          <p:cNvSpPr/>
          <p:nvPr/>
        </p:nvSpPr>
        <p:spPr>
          <a:xfrm>
            <a:off x="5486400" y="1783080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$505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6858000" y="1783080"/>
            <a:ext cx="1645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Ticket Promedio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5303520" y="2423160"/>
            <a:ext cx="33832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7"/>
          <p:cNvSpPr/>
          <p:nvPr/>
        </p:nvSpPr>
        <p:spPr>
          <a:xfrm>
            <a:off x="5303520" y="2423160"/>
            <a:ext cx="54864" cy="56692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7"/>
          <p:cNvSpPr/>
          <p:nvPr/>
        </p:nvSpPr>
        <p:spPr>
          <a:xfrm>
            <a:off x="5486400" y="2468880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96167"/>
                </a:solidFill>
                <a:latin typeface="Georgia"/>
                <a:ea typeface="Georgia"/>
                <a:cs typeface="Georgia"/>
                <a:sym typeface="Georgia"/>
              </a:rPr>
              <a:t>$90,390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6858000" y="2468880"/>
            <a:ext cx="1645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Revenue Últimos 30d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7"/>
          <p:cNvSpPr/>
          <p:nvPr/>
        </p:nvSpPr>
        <p:spPr>
          <a:xfrm>
            <a:off x="5303520" y="3108960"/>
            <a:ext cx="33832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7"/>
          <p:cNvSpPr/>
          <p:nvPr/>
        </p:nvSpPr>
        <p:spPr>
          <a:xfrm>
            <a:off x="5303520" y="3108960"/>
            <a:ext cx="54864" cy="566928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7"/>
          <p:cNvSpPr/>
          <p:nvPr/>
        </p:nvSpPr>
        <p:spPr>
          <a:xfrm>
            <a:off x="5486400" y="3154680"/>
            <a:ext cx="1371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1295C"/>
                </a:solidFill>
                <a:latin typeface="Georgia"/>
                <a:ea typeface="Georgia"/>
                <a:cs typeface="Georgia"/>
                <a:sym typeface="Georgia"/>
              </a:rPr>
              <a:t>200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6858000" y="3154680"/>
            <a:ext cx="1645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Clientes Activos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731520" y="3840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Validación de resultados: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731520" y="41605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Los datos fueron validados verificando que el revenue total coincida con la suma de TotalSale post-limpieza. La consulta SQL de últimos 30 días retorna 167 transacciones consistentes con el volumen diario promedio (~5.4 txns/día). No se detectaron anomalías en la distribución temporal.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8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65A82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8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Conclusiones e Insights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8"/>
          <p:cNvSpPr/>
          <p:nvPr/>
        </p:nvSpPr>
        <p:spPr>
          <a:xfrm>
            <a:off x="731520" y="1097280"/>
            <a:ext cx="7772400" cy="640080"/>
          </a:xfrm>
          <a:prstGeom prst="rect">
            <a:avLst/>
          </a:prstGeom>
          <a:solidFill>
            <a:srgbClr val="21295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8"/>
          <p:cNvSpPr/>
          <p:nvPr/>
        </p:nvSpPr>
        <p:spPr>
          <a:xfrm>
            <a:off x="731520" y="1097280"/>
            <a:ext cx="54864" cy="6400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8"/>
          <p:cNvSpPr/>
          <p:nvPr/>
        </p:nvSpPr>
        <p:spPr>
          <a:xfrm>
            <a:off x="1005840" y="11247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79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E795"/>
                </a:solidFill>
                <a:latin typeface="Calibri"/>
                <a:ea typeface="Calibri"/>
                <a:cs typeface="Calibri"/>
                <a:sym typeface="Calibri"/>
              </a:rPr>
              <a:t>Estabilidad en ventas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1005840" y="1399032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El revenue se mantiene estable (~$80-90K/mes) sin picos estacionales marcados, sugiriendo una base de clientes recurrente.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731520" y="1847088"/>
            <a:ext cx="7772400" cy="640080"/>
          </a:xfrm>
          <a:prstGeom prst="rect">
            <a:avLst/>
          </a:prstGeom>
          <a:solidFill>
            <a:srgbClr val="21295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8"/>
          <p:cNvSpPr/>
          <p:nvPr/>
        </p:nvSpPr>
        <p:spPr>
          <a:xfrm>
            <a:off x="731520" y="1847088"/>
            <a:ext cx="54864" cy="6400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8"/>
          <p:cNvSpPr/>
          <p:nvPr/>
        </p:nvSpPr>
        <p:spPr>
          <a:xfrm>
            <a:off x="1005840" y="1874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79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E795"/>
                </a:solidFill>
                <a:latin typeface="Calibri"/>
                <a:ea typeface="Calibri"/>
                <a:cs typeface="Calibri"/>
                <a:sym typeface="Calibri"/>
              </a:rPr>
              <a:t>Concentración en Tecnología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8"/>
          <p:cNvSpPr/>
          <p:nvPr/>
        </p:nvSpPr>
        <p:spPr>
          <a:xfrm>
            <a:off x="1005840" y="214884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La categoría Tecnología genera la mayor parte del ingreso por alto ticket promedio, pero representa un riesgo de concentración.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8"/>
          <p:cNvSpPr/>
          <p:nvPr/>
        </p:nvSpPr>
        <p:spPr>
          <a:xfrm>
            <a:off x="731520" y="2596896"/>
            <a:ext cx="7772400" cy="640080"/>
          </a:xfrm>
          <a:prstGeom prst="rect">
            <a:avLst/>
          </a:prstGeom>
          <a:solidFill>
            <a:srgbClr val="21295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8"/>
          <p:cNvSpPr/>
          <p:nvPr/>
        </p:nvSpPr>
        <p:spPr>
          <a:xfrm>
            <a:off x="731520" y="2596896"/>
            <a:ext cx="54864" cy="6400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8"/>
          <p:cNvSpPr/>
          <p:nvPr/>
        </p:nvSpPr>
        <p:spPr>
          <a:xfrm>
            <a:off x="1005840" y="26243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79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E795"/>
                </a:solidFill>
                <a:latin typeface="Calibri"/>
                <a:ea typeface="Calibri"/>
                <a:cs typeface="Calibri"/>
                <a:sym typeface="Calibri"/>
              </a:rPr>
              <a:t>Oportunidad en Accesorios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/>
          <p:cNvSpPr/>
          <p:nvPr/>
        </p:nvSpPr>
        <p:spPr>
          <a:xfrm>
            <a:off x="1005840" y="289864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Accesorios tiene el mayor volumen de transacciones con ticket bajo — oportunidad para estrategias de bundling y cross-sell.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731520" y="3346704"/>
            <a:ext cx="7772400" cy="640080"/>
          </a:xfrm>
          <a:prstGeom prst="rect">
            <a:avLst/>
          </a:prstGeom>
          <a:solidFill>
            <a:srgbClr val="21295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8"/>
          <p:cNvSpPr/>
          <p:nvPr/>
        </p:nvSpPr>
        <p:spPr>
          <a:xfrm>
            <a:off x="731520" y="3346704"/>
            <a:ext cx="54864" cy="6400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1005840" y="337413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79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E795"/>
                </a:solidFill>
                <a:latin typeface="Calibri"/>
                <a:ea typeface="Calibri"/>
                <a:cs typeface="Calibri"/>
                <a:sym typeface="Calibri"/>
              </a:rPr>
              <a:t>Top clientes = alto impacto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1005840" y="3648456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Los 10 principales clientes generan una porción significativa del revenue. Programas de fidelización son prioritarios.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/>
          <p:nvPr/>
        </p:nvSpPr>
        <p:spPr>
          <a:xfrm>
            <a:off x="731520" y="4096512"/>
            <a:ext cx="7772400" cy="640080"/>
          </a:xfrm>
          <a:prstGeom prst="rect">
            <a:avLst/>
          </a:prstGeom>
          <a:solidFill>
            <a:srgbClr val="21295C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8"/>
          <p:cNvSpPr/>
          <p:nvPr/>
        </p:nvSpPr>
        <p:spPr>
          <a:xfrm>
            <a:off x="731520" y="4096512"/>
            <a:ext cx="54864" cy="6400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8"/>
          <p:cNvSpPr/>
          <p:nvPr/>
        </p:nvSpPr>
        <p:spPr>
          <a:xfrm>
            <a:off x="1005840" y="412394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79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E795"/>
                </a:solidFill>
                <a:latin typeface="Calibri"/>
                <a:ea typeface="Calibri"/>
                <a:cs typeface="Calibri"/>
                <a:sym typeface="Calibri"/>
              </a:rPr>
              <a:t>Argentina domina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1005840" y="4398264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 el 40% de la base de clientes, Argentina es el mercado principal. Brasil es el segundo mercado a desarrollar.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9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9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C729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9"/>
          <p:cNvSpPr/>
          <p:nvPr/>
        </p:nvSpPr>
        <p:spPr>
          <a:xfrm>
            <a:off x="731520" y="137160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¡Gracias!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9"/>
          <p:cNvSpPr/>
          <p:nvPr/>
        </p:nvSpPr>
        <p:spPr>
          <a:xfrm>
            <a:off x="731520" y="24688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Proyecto Final — Data Analytics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9"/>
          <p:cNvSpPr/>
          <p:nvPr/>
        </p:nvSpPr>
        <p:spPr>
          <a:xfrm>
            <a:off x="731520" y="3108960"/>
            <a:ext cx="182880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9"/>
          <p:cNvSpPr/>
          <p:nvPr/>
        </p:nvSpPr>
        <p:spPr>
          <a:xfrm>
            <a:off x="731520" y="32918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Alfredo Parente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731520" y="36576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Coderhouse — Abril 202</a:t>
            </a:r>
            <a:r>
              <a:rPr lang="en-US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2026-04-07T23:38:23Z</dcterms:created>
  <dc:creator>Alfredo Parente</dc:creator>
</cp:coreProperties>
</file>